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nome, o módulo e o tema. O Searching permite explorar a costa portuguesa e consultar as condições do tempo e do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o objetivo é facilitar a consulta de informação sobre a costa portuguesa. As duas fontes marítimas são apresentadas em conjunto, com identificação dos seus períodos.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quatro páginas. Explicar a estrutura master-detail: primeiro é mostrada a lista de regiões; ao escolher uma, abre-se a sua página de detalhes. A captura mostra o catálogo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HTML define a estrutura, o CSS organiza a apresentação e o JavaScript controla os dados e as interações. O IPMA fornece os locais e a previsão oficial; a Open-Meteo fornece dados do tempo e do 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a lista vem da API e que as coordenadas não são guardadas manualmente. O catálogo envia os dados do local pela URL. A página de detalhes lê-os e consulta as fontes. O código atual usa funções tradicionais, ciclos for e condições if/else.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capturas usam dados reais obtidos durante a preparação da apresentação. Explicar que as fontes têm estruturas e períodos diferentes. A Open-Meteo mostra a hora selecionada e o IPMA mostra intervalos diários. Campos em falta aparecem como N/D, e uma falha numa fonte não bloqueia as outras.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Referir que o recurso da APA identificado exigia descarregar e preparar ficheiros, pelo que a sua integração ficou por concluir. Resumir o uso de IA como apoio na pesquisa, nas dúvidas técnicas, em funcionalidades e em sugestões visuais, de acordo com 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Concluir com as aprendizagens e a possível integração da APA. Fazer uma demonstração curta: pesquisar uma região, abrir os detalhes, mudar o dia da previsão IPMA e navegar na galeria. Preencher o nome, o número de estudante e o URL do website antes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4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rf_espinho.jpg"/>
          <p:cNvPicPr>
            <a:picLocks noChangeAspect="1"/>
          </p:cNvPicPr>
          <p:nvPr/>
        </p:nvPicPr>
        <p:blipFill>
          <a:blip r:embed="rId2"/>
          <a:srcRect l="15630" r="15630"/>
          <a:stretch>
            <a:fillRect/>
          </a:stretch>
        </p:blipFill>
        <p:spPr>
          <a:xfrm>
            <a:off x="5120640" y="0"/>
            <a:ext cx="707132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7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CE2D5"/>
                </a:solidFill>
                <a:latin typeface="Arial"/>
              </a:defRPr>
            </a:pPr>
            <a:r>
              <a:t>MINIPROJETO M1B · TDW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920240"/>
            <a:ext cx="576072" cy="50292"/>
          </a:xfrm>
          <a:prstGeom prst="rect">
            <a:avLst/>
          </a:prstGeom>
          <a:solidFill>
            <a:srgbClr val="BC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2377440"/>
            <a:ext cx="5349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5200" b="0">
                <a:solidFill>
                  <a:srgbClr val="FFFFFF"/>
                </a:solidFill>
                <a:latin typeface="Georgia"/>
              </a:defRPr>
            </a:pPr>
            <a:r>
              <a:t>Searching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Tempo e mar na</a:t>
            </a:r>
          </a:p>
          <a:p>
            <a:pPr algn="l">
              <a:spcAft>
                <a:spcPts val="5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costa portuguesa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8756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CE2D5"/>
                </a:solidFill>
                <a:latin typeface="Arial"/>
              </a:defRPr>
            </a:pPr>
            <a:r>
              <a:t>[Nome do estudante]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BCE2D5"/>
                </a:solidFill>
                <a:latin typeface="Arial"/>
              </a:defRPr>
            </a:pPr>
            <a:r>
              <a:t>[Número de estudante]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Conhecer a costa. Consultar o mar.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0992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687E83"/>
                </a:solidFill>
                <a:latin typeface="Arial"/>
              </a:defRPr>
            </a:pPr>
            <a:r>
              <a:t>Informação meteorológica e marítima, num único website.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351129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6791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5234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3867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173F48"/>
                </a:solidFill>
                <a:latin typeface="Georgia"/>
              </a:defRPr>
            </a:pPr>
            <a:r>
              <a:t>Consultar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04488"/>
            <a:ext cx="30540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Saber como estão o tempo,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as ondas e o vento.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351129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26791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75234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3867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6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173F48"/>
                </a:solidFill>
                <a:latin typeface="Georgia"/>
              </a:defRPr>
            </a:pPr>
            <a:r>
              <a:t>Explorar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04488"/>
            <a:ext cx="30540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Escolher entre 12 regiões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costeiras portuguesas.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468880"/>
            <a:ext cx="3511296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2679192"/>
            <a:ext cx="438912" cy="38404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75234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3867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3756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300" b="0">
                <a:solidFill>
                  <a:srgbClr val="173F48"/>
                </a:solidFill>
                <a:latin typeface="Georgia"/>
              </a:defRPr>
            </a:pPr>
            <a:r>
              <a:t>Comparar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04488"/>
            <a:ext cx="30540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Ver as previsões do IPMA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e da Open-Meteo.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49240"/>
            <a:ext cx="11009376" cy="658368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5040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Escolher uma região  →  Consultar condições  →  Comparar fontes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Quatro páginas, uma navegação simples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03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01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73F48"/>
                </a:solidFill>
                <a:latin typeface="Arial"/>
              </a:defRPr>
            </a:pPr>
            <a:r>
              <a:t>Início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Apresentação do projeto.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43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73F48"/>
                </a:solidFill>
                <a:latin typeface="Arial"/>
              </a:defRPr>
            </a:pPr>
            <a:r>
              <a:t>Catálogo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82112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Regiões e pesquisa por nome.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856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3075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73F48"/>
                </a:solidFill>
                <a:latin typeface="Arial"/>
              </a:defRPr>
            </a:pPr>
            <a:r>
              <a:t>Detalhes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23944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Fotografia, texto e condições.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2744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72583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73F48"/>
                </a:solidFill>
                <a:latin typeface="Arial"/>
              </a:defRPr>
            </a:pPr>
            <a:r>
              <a:t>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65775"/>
            <a:ext cx="26517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Carrossel de fotografias.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810512"/>
            <a:ext cx="7580375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764" y="1938528"/>
            <a:ext cx="7291566" cy="38221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42816" y="5779008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CATÁLOGO · LOCAIS CARREGADOS DO IPMA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Tecnologias e fontes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11095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3F48"/>
                </a:solidFill>
                <a:latin typeface="Arial"/>
              </a:defRPr>
            </a:pPr>
            <a:r>
              <a:t>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8255" y="178308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8255" y="1911095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3F48"/>
                </a:solidFill>
                <a:latin typeface="Arial"/>
              </a:defRPr>
            </a:pPr>
            <a:r>
              <a:t>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78308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911095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3F48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6088" y="178308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1911095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73F48"/>
                </a:solidFill>
                <a:latin typeface="Arial"/>
              </a:defRPr>
            </a:pPr>
            <a:r>
              <a:t>Bootstrap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606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687E83"/>
                </a:solidFill>
                <a:latin typeface="Arial"/>
              </a:defRPr>
            </a:pPr>
            <a:r>
              <a:t>Website estático · sem backend ou base de dados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37560"/>
            <a:ext cx="351129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02736"/>
            <a:ext cx="384048" cy="45720"/>
          </a:xfrm>
          <a:prstGeom prst="rect">
            <a:avLst/>
          </a:prstGeom>
          <a:solidFill>
            <a:srgbClr val="438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4487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73F48"/>
                </a:solidFill>
                <a:latin typeface="Arial"/>
              </a:defRPr>
            </a:pPr>
            <a:r>
              <a:t>IPMA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Locais costeiros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e previsão marítima oficial.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337560"/>
            <a:ext cx="351129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602736"/>
            <a:ext cx="384048" cy="45720"/>
          </a:xfrm>
          <a:prstGeom prst="rect">
            <a:avLst/>
          </a:prstGeom>
          <a:solidFill>
            <a:srgbClr val="438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04487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73F48"/>
                </a:solidFill>
                <a:latin typeface="Arial"/>
              </a:defRPr>
            </a:pPr>
            <a:r>
              <a:t>Open-Meteo Weather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Temperatura, humidade,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precipitação e vento.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337560"/>
            <a:ext cx="3511296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602736"/>
            <a:ext cx="384048" cy="45720"/>
          </a:xfrm>
          <a:prstGeom prst="rect">
            <a:avLst/>
          </a:prstGeom>
          <a:solidFill>
            <a:srgbClr val="438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04487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73F48"/>
                </a:solidFill>
                <a:latin typeface="Arial"/>
              </a:defRPr>
            </a:pPr>
            <a:r>
              <a:t>Open-Meteo Marine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Ondas, swell 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temperatura da água.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8064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87E83"/>
                </a:solidFill>
                <a:latin typeface="Arial"/>
              </a:defRPr>
            </a:pPr>
            <a:r>
              <a:t>Fontes: api.ipma.pt · open-meteo.com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Da escolha da região aos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05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54203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402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43867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9806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173F48"/>
                </a:solidFill>
                <a:latin typeface="Georgia"/>
              </a:defRPr>
            </a:pPr>
            <a:r>
              <a:t>IPMA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83280"/>
            <a:ext cx="212140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Carrega os locais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em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1256" y="28620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386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011680"/>
            <a:ext cx="254203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2402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43867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9806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173F48"/>
                </a:solidFill>
                <a:latin typeface="Georgia"/>
              </a:defRPr>
            </a:pPr>
            <a:r>
              <a:t>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83280"/>
            <a:ext cx="212140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O utilizador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escolhe um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28620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386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011680"/>
            <a:ext cx="254203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2402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43867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9806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173F48"/>
                </a:solidFill>
                <a:latin typeface="Georgia"/>
              </a:defRPr>
            </a:pPr>
            <a:r>
              <a:t>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383280"/>
            <a:ext cx="212140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Envia coordenadas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e identificadores.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8620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38673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2011680"/>
            <a:ext cx="254203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22402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43867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798064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400" b="0">
                <a:solidFill>
                  <a:srgbClr val="173F48"/>
                </a:solidFill>
                <a:latin typeface="Georgia"/>
              </a:defRPr>
            </a:pPr>
            <a:r>
              <a:t>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383280"/>
            <a:ext cx="212140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Obtém e apresenta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687E83"/>
                </a:solidFill>
                <a:latin typeface="Arial"/>
              </a:defRPr>
            </a:pPr>
            <a:r>
              <a:t>as condições.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681728"/>
            <a:ext cx="10991088" cy="118872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892040"/>
            <a:ext cx="10424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JAVASCRIPT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2760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173F48"/>
                </a:solidFill>
                <a:latin typeface="Arial"/>
              </a:defRPr>
            </a:pPr>
            <a:r>
              <a:t>Funções · arrays de objetos · ciclos for · if/else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01675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87E83"/>
                </a:solidFill>
                <a:latin typeface="Arial"/>
              </a:defRPr>
            </a:pPr>
            <a:r>
              <a:t>fetch + async/await para consultar as APIs e ler as respostas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DESAFIOS TÉCNICOS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Problemas encontrados e soluções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06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874519"/>
            <a:ext cx="50292" cy="685800"/>
          </a:xfrm>
          <a:prstGeom prst="rect">
            <a:avLst/>
          </a:prstGeom>
          <a:solidFill>
            <a:srgbClr val="BC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10512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Ligar as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85416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Usar coordenadas e IDs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da região.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98648"/>
            <a:ext cx="50292" cy="685800"/>
          </a:xfrm>
          <a:prstGeom prst="rect">
            <a:avLst/>
          </a:prstGeom>
          <a:solidFill>
            <a:srgbClr val="BC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83464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Escolher a hora correta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209544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Selecionar dados recentes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e respeitar o fuso local.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922776"/>
            <a:ext cx="50292" cy="685800"/>
          </a:xfrm>
          <a:prstGeom prst="rect">
            <a:avLst/>
          </a:prstGeom>
          <a:solidFill>
            <a:srgbClr val="BC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858768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Comparar previsões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33672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Distinguir valores horários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de intervalos diários.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946904"/>
            <a:ext cx="50292" cy="685800"/>
          </a:xfrm>
          <a:prstGeom prst="rect">
            <a:avLst/>
          </a:prstGeom>
          <a:solidFill>
            <a:srgbClr val="BC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882896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Tratar falhas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257800"/>
            <a:ext cx="3611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Mostrar N/D e permitir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687E83"/>
                </a:solidFill>
                <a:latin typeface="Arial"/>
              </a:defRPr>
            </a:pPr>
            <a:r>
              <a:t>repetir a consulta.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792224"/>
            <a:ext cx="6583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OPEN-METEO · PREVISÃO HORÁRIA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2112264"/>
            <a:ext cx="6766560" cy="1810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046" y="2185416"/>
            <a:ext cx="4838530" cy="16642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19472" y="4187952"/>
            <a:ext cx="6583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IPMA · PREVISÃO DIÁRIA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4507992"/>
            <a:ext cx="676656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p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660" y="4581144"/>
            <a:ext cx="3789303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REFLEXÃO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Limitações e apoio da inteligência artificial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07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34924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349240" cy="4096512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73F48"/>
                </a:solidFill>
                <a:latin typeface="Georgia"/>
              </a:defRPr>
            </a:pPr>
            <a:r>
              <a:t>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79776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438673"/>
                </a:solidFill>
                <a:latin typeface="Arial"/>
              </a:defRPr>
            </a:pPr>
            <a:r>
              <a:t>Integração por concluir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392424"/>
            <a:ext cx="46085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687E83"/>
                </a:solidFill>
                <a:latin typeface="Arial"/>
              </a:defRPr>
            </a:pPr>
            <a:r>
              <a:t>Recurso identificado em ficheiros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687E83"/>
                </a:solidFill>
                <a:latin typeface="Arial"/>
              </a:defRPr>
            </a:pPr>
            <a:r>
              <a:t>para descarregar.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687E83"/>
                </a:solidFill>
                <a:latin typeface="Arial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687E83"/>
                </a:solidFill>
                <a:latin typeface="Arial"/>
              </a:defRPr>
            </a:pPr>
            <a:r>
              <a:t>Exige preparação e associação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687E83"/>
                </a:solidFill>
                <a:latin typeface="Arial"/>
              </a:defRPr>
            </a:pPr>
            <a:r>
              <a:t>aos locais do website.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266944"/>
            <a:ext cx="46085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73F48"/>
                </a:solidFill>
                <a:latin typeface="Arial"/>
              </a:defRPr>
            </a:pPr>
            <a:r>
              <a:t>Próximo passo: converter os dados para JSON.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94560"/>
            <a:ext cx="4709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73F48"/>
                </a:solidFill>
                <a:latin typeface="Georgia"/>
              </a:defRPr>
            </a:pPr>
            <a:r>
              <a:t>Apoio da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94436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Pesquisa e dúvidas técnicas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374136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APIs e esclarecimento de conceitos.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0233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Algumas funcionalidades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453128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687E83"/>
                </a:solidFill>
                <a:latin typeface="Arial"/>
              </a:defRPr>
            </a:pPr>
            <a:r>
              <a:t>Apoio na implementação e resolução de dificuldades.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527608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73F48"/>
                </a:solidFill>
                <a:latin typeface="Arial"/>
              </a:defRPr>
            </a:pPr>
            <a:r>
              <a:t>Design e organização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3000" b="0">
                <a:solidFill>
                  <a:srgbClr val="173F48"/>
                </a:solidFill>
                <a:latin typeface="Georgia"/>
              </a:defRPr>
            </a:pPr>
            <a:r>
              <a:t>O que fica deste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1000232" cy="10972"/>
          </a:xfrm>
          <a:prstGeom prst="rect">
            <a:avLst/>
          </a:prstGeom>
          <a:solidFill>
            <a:srgbClr val="DC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Searching  /  TDW · M1B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54710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87E83"/>
                </a:solidFill>
                <a:latin typeface="Arial"/>
              </a:defRPr>
            </a:pPr>
            <a:r>
              <a:t>08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901952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Informação do tempo e do mar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num único website.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62072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JavaScript aplicado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a dados reais e interações.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6791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3867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822191"/>
            <a:ext cx="4023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Uma interface adaptada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73F48"/>
                </a:solidFill>
                <a:latin typeface="Arial"/>
              </a:defRPr>
            </a:pPr>
            <a:r>
              <a:t>a diferentes ecrãs.</a:t>
            </a:r>
          </a:p>
        </p:txBody>
      </p:sp>
      <p:pic>
        <p:nvPicPr>
          <p:cNvPr id="13" name="Picture 12" descr="gal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20" y="1847088"/>
            <a:ext cx="5970022" cy="2990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50992" y="5056632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438673"/>
                </a:solidFill>
                <a:latin typeface="Arial"/>
              </a:defRPr>
            </a:pPr>
            <a:r>
              <a:t>MELHORIA FUTURA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5422392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173F48"/>
                </a:solidFill>
                <a:latin typeface="Georgia"/>
              </a:defRPr>
            </a:pPr>
            <a:r>
              <a:t>Integrar os dados da APA.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971032"/>
            <a:ext cx="10991088" cy="411480"/>
          </a:xfrm>
          <a:prstGeom prst="roundRect">
            <a:avLst>
              <a:gd name="adj" fmla="val 8000"/>
            </a:avLst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6080760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73F48"/>
                </a:solidFill>
                <a:latin typeface="Arial"/>
              </a:defRPr>
            </a:pPr>
            <a:r>
              <a:t>DEMONSTRAÇÃO   Pesquisar → Ver detalhes → Mudar o dia no IPMA → Abrir a galeria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4865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687E83"/>
                </a:solidFill>
                <a:latin typeface="Arial"/>
              </a:defRPr>
            </a:pPr>
            <a:r>
              <a:t>[URL do website publicado]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— Miniprojeto M1B</dc:title>
  <dc:subject>Apresentação do website Searching</dc:subject>
  <dc:creator/>
  <cp:keywords>Searching, TDW, M1B</cp:keywords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